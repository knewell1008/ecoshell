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1a368829482435a" /><Relationship Type="http://schemas.openxmlformats.org/officeDocument/2006/relationships/extended-properties" Target="/docProps/app.xml" Id="R1ccc5cc8af744eb9" /><Relationship Type="http://schemas.openxmlformats.org/officeDocument/2006/relationships/officeDocument" Target="/ppt/presentation.xml" Id="R3ef929828d2e4e6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9e0d54d4cb747c8"/>
  </p:sldMasterIdLst>
  <p:notesMasterIdLst>
    <p:notesMasterId xmlns:r="http://schemas.openxmlformats.org/officeDocument/2006/relationships" r:id="R98e6a42d49b04bda"/>
  </p:notesMasterIdLst>
  <p:sldIdLst>
    <p:sldId xmlns:r="http://schemas.openxmlformats.org/officeDocument/2006/relationships" id="256" r:id="R0d33aec51b6042f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53b7bda3db24ce2" /><Relationship Type="http://schemas.openxmlformats.org/officeDocument/2006/relationships/slideMaster" Target="/ppt/slideMasters/slideMaster1.xml" Id="Re9e0d54d4cb747c8" /><Relationship Type="http://schemas.openxmlformats.org/officeDocument/2006/relationships/notesMaster" Target="/ppt/notesMasters/notesMaster1.xml" Id="R98e6a42d49b04bda" /><Relationship Type="http://schemas.openxmlformats.org/officeDocument/2006/relationships/presProps" Target="/ppt/presProps.xml" Id="R71f8ade9483140c6" /><Relationship Type="http://schemas.openxmlformats.org/officeDocument/2006/relationships/tableStyles" Target="/ppt/tableStyles.xml" Id="R3ca4eecaae11444b" /><Relationship Type="http://schemas.openxmlformats.org/officeDocument/2006/relationships/slide" Target="/ppt/slides/slide1.xml" Id="R0d33aec51b6042f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954326b52e6458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45ee342cd47491f" /><Relationship Type="http://schemas.openxmlformats.org/officeDocument/2006/relationships/notesMaster" Target="/ppt/notesMasters/notesMaster1.xml" Id="R067a1dedaa22471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Created from the user's reference slide and requested five-part Monitoring and Evaluation Framework structure.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b550c8fe7a4c7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1c894a257204a19" /><Relationship Type="http://schemas.openxmlformats.org/officeDocument/2006/relationships/slideLayout" Target="/ppt/slideLayouts/slideLayout1.xml" Id="R87f3c4aa3a11466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7f3c4aa3a11466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89a9839d4f45f8" /><Relationship Type="http://schemas.openxmlformats.org/officeDocument/2006/relationships/notesSlide" Target="/ppt/notesSlides/notesSlide1.xml" Id="R7abbfdcb751e465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04223EC-A009-49D1-879A-548DD9BF7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8C6B2E"/>
                </a:solidFill>
                <a:latin typeface="Georgia"/>
                <a:ea typeface="Georgia"/>
                <a:cs typeface="Georgia"/>
              </a:defRPr>
            </a:pPr>
            <a:r>
              <a:rPr sz="1275" b="1" i="0">
                <a:solidFill>
                  <a:srgbClr val="8C6B2E"/>
                </a:solidFill>
                <a:latin typeface="Georgia"/>
                <a:ea typeface="Georgia"/>
                <a:cs typeface="Georgia"/>
              </a:rPr>
              <a:t>HOW WE DELIVER IMPACT PROGRAMS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F6BC81-9150-47DF-AB37-9415C3121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382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0" i="0">
                <a:solidFill>
                  <a:srgbClr val="00152D"/>
                </a:solidFill>
                <a:latin typeface="Aptos"/>
                <a:ea typeface="Aptos"/>
                <a:cs typeface="Aptos"/>
              </a:defRPr>
            </a:pPr>
            <a:r>
              <a:rPr sz="3000" b="0" i="0">
                <a:solidFill>
                  <a:srgbClr val="00152D"/>
                </a:solidFill>
                <a:latin typeface="Aptos"/>
                <a:ea typeface="Aptos"/>
                <a:cs typeface="Aptos"/>
              </a:rPr>
              <a:t>Monitoring and Evaluation Framework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AB502A-8C15-4FAF-AF25-1C7DA0FD9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26071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526071"/>
                </a:solidFill>
                <a:latin typeface="Aptos"/>
                <a:ea typeface="Aptos"/>
                <a:cs typeface="Aptos"/>
              </a:rPr>
              <a:t>Measurement is designed upfront, then used through delivery to guide management decisions.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648F98-3542-436B-A35F-E029B8733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66900"/>
            <a:ext cx="20764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0015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E2D81A-56C3-45C4-B832-12419A33F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28825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1DDA4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F1DDA4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4E22B3-5B9D-49B4-A7E9-19109DF2C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000250"/>
            <a:ext cx="1447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Impact Strategy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5F5614-729F-4B0E-B306-3F1DFBC8D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47950"/>
            <a:ext cx="2076450" cy="2609850"/>
          </a:xfrm>
          <a:prstGeom xmlns:a="http://schemas.openxmlformats.org/drawingml/2006/main" prst="roundRect">
            <a:avLst>
              <a:gd name="adj" fmla="val 3670"/>
            </a:avLst>
          </a:prstGeom>
          <a:solidFill xmlns:a="http://schemas.openxmlformats.org/drawingml/2006/main">
            <a:srgbClr val="F8F5EF"/>
          </a:solidFill>
          <a:ln xmlns:a="http://schemas.openxmlformats.org/drawingml/2006/main" w="11430">
            <a:solidFill>
              <a:srgbClr val="D9C79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A702C8-8344-49C8-952D-73EB6B201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1940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0152D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00152D"/>
                </a:solidFill>
                <a:latin typeface="Aptos"/>
                <a:ea typeface="Aptos"/>
                <a:cs typeface="Aptos"/>
              </a:rPr>
              <a:t>Stakeholder priorities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4E3E20-5155-4912-B4AF-6FB5BC8A4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1945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00152D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00152D"/>
                </a:solidFill>
                <a:latin typeface="Aptos"/>
                <a:ea typeface="Aptos"/>
                <a:cs typeface="Aptos"/>
              </a:rPr>
              <a:t>Theory of change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2D6B26-E366-46B9-800B-265823DAB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00152D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00152D"/>
                </a:solidFill>
                <a:latin typeface="Aptos"/>
                <a:ea typeface="Aptos"/>
                <a:cs typeface="Aptos"/>
              </a:rPr>
              <a:t>Goals and governance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AE76FE-72BA-49B7-8464-578EE74C2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33900"/>
            <a:ext cx="1733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5EF"/>
          </a:solidFill>
          <a:ln xmlns:a="http://schemas.openxmlformats.org/drawingml/2006/main" w="9525">
            <a:solidFill>
              <a:srgbClr val="C4A15B"/>
            </a:solidFill>
            <a:prstDash val="dash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028869-3D88-41D4-9455-CA8592970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57725"/>
            <a:ext cx="1504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1">
                <a:solidFill>
                  <a:srgbClr val="526071"/>
                </a:solidFill>
                <a:latin typeface="Aptos"/>
                <a:ea typeface="Aptos"/>
                <a:cs typeface="Aptos"/>
              </a:defRPr>
            </a:pPr>
            <a:r>
              <a:rPr sz="1050" b="0" i="1">
                <a:solidFill>
                  <a:srgbClr val="526071"/>
                </a:solidFill>
                <a:latin typeface="Aptos"/>
                <a:ea typeface="Aptos"/>
                <a:cs typeface="Aptos"/>
              </a:rPr>
              <a:t>Materiality, targets and program logic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2ED18F-AC61-4D12-8C53-75D3CD53E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3476625"/>
            <a:ext cx="1714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4A1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F31A6F-859C-4F18-811C-26A5787B7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866900"/>
            <a:ext cx="20764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0015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EC0ECD-5D2A-4811-9086-0F7802FA0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028825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1DDA4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F1DDA4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339916-94D5-4075-852A-B400F76AF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000250"/>
            <a:ext cx="1447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Collection of Information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42D722-6323-47C6-8EC4-CB825DEE0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647950"/>
            <a:ext cx="2076450" cy="2609850"/>
          </a:xfrm>
          <a:prstGeom xmlns:a="http://schemas.openxmlformats.org/drawingml/2006/main" prst="roundRect">
            <a:avLst>
              <a:gd name="adj" fmla="val 3670"/>
            </a:avLst>
          </a:prstGeom>
          <a:solidFill xmlns:a="http://schemas.openxmlformats.org/drawingml/2006/main">
            <a:srgbClr val="F8F5EF"/>
          </a:solidFill>
          <a:ln xmlns:a="http://schemas.openxmlformats.org/drawingml/2006/main" w="11430">
            <a:solidFill>
              <a:srgbClr val="D9C79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DEA8A5-D73E-4B23-A60A-C2A2F6D57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81940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0152D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00152D"/>
                </a:solidFill>
                <a:latin typeface="Aptos"/>
                <a:ea typeface="Aptos"/>
                <a:cs typeface="Aptos"/>
              </a:rPr>
              <a:t>Baseline diagnostic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55D462-DAD6-4B1F-B400-9B4938574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21945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00152D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00152D"/>
                </a:solidFill>
                <a:latin typeface="Aptos"/>
                <a:ea typeface="Aptos"/>
                <a:cs typeface="Aptos"/>
              </a:rPr>
              <a:t>Survey and field data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1F1856-CC64-4808-97D6-53B362F99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61950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00152D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00152D"/>
                </a:solidFill>
                <a:latin typeface="Aptos"/>
                <a:ea typeface="Aptos"/>
                <a:cs typeface="Aptos"/>
              </a:rPr>
              <a:t>Partner and admin data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35B3FC-CDB2-4A26-B60F-D14735AE6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533900"/>
            <a:ext cx="1733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5EF"/>
          </a:solidFill>
          <a:ln xmlns:a="http://schemas.openxmlformats.org/drawingml/2006/main" w="9525">
            <a:solidFill>
              <a:srgbClr val="C4A15B"/>
            </a:solidFill>
            <a:prstDash val="dash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DBD848D-C1BF-4B8A-94E3-F70142E86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657725"/>
            <a:ext cx="1504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1">
                <a:solidFill>
                  <a:srgbClr val="526071"/>
                </a:solidFill>
                <a:latin typeface="Aptos"/>
                <a:ea typeface="Aptos"/>
                <a:cs typeface="Aptos"/>
              </a:defRPr>
            </a:pPr>
            <a:r>
              <a:rPr sz="1050" b="0" i="1">
                <a:solidFill>
                  <a:srgbClr val="526071"/>
                </a:solidFill>
                <a:latin typeface="Aptos"/>
                <a:ea typeface="Aptos"/>
                <a:cs typeface="Aptos"/>
              </a:rPr>
              <a:t>Sampling plans, field tools and source data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752CB87-446F-4E29-9E43-FE79E6513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3476625"/>
            <a:ext cx="1714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4A1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73A1001-AA37-4857-A924-B955ED122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866900"/>
            <a:ext cx="20764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0015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089736B-2661-4878-AC7C-A96375C4F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028825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1DDA4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F1DDA4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10D2250-FBB5-4921-86C5-6A751B167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000250"/>
            <a:ext cx="1447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Dashboard and IT Tools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13A25C6-544C-4EFA-AD7A-F4C60CE7F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647950"/>
            <a:ext cx="2076450" cy="2609850"/>
          </a:xfrm>
          <a:prstGeom xmlns:a="http://schemas.openxmlformats.org/drawingml/2006/main" prst="roundRect">
            <a:avLst>
              <a:gd name="adj" fmla="val 3670"/>
            </a:avLst>
          </a:prstGeom>
          <a:solidFill xmlns:a="http://schemas.openxmlformats.org/drawingml/2006/main">
            <a:srgbClr val="F8F5EF"/>
          </a:solidFill>
          <a:ln xmlns:a="http://schemas.openxmlformats.org/drawingml/2006/main" w="11430">
            <a:solidFill>
              <a:srgbClr val="D9C79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97944CD-6E1D-42E2-AF31-876DE08C2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81940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0152D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00152D"/>
                </a:solidFill>
                <a:latin typeface="Aptos"/>
                <a:ea typeface="Aptos"/>
                <a:cs typeface="Aptos"/>
              </a:rPr>
              <a:t>Indicator framework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4124596-25B6-4E7E-B4E0-B1894A749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21945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00152D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00152D"/>
                </a:solidFill>
                <a:latin typeface="Aptos"/>
                <a:ea typeface="Aptos"/>
                <a:cs typeface="Aptos"/>
              </a:rPr>
              <a:t>Reporting dashboard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A1978DA-EF24-49F2-9A14-1685DA358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61950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00152D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00152D"/>
                </a:solidFill>
                <a:latin typeface="Aptos"/>
                <a:ea typeface="Aptos"/>
                <a:cs typeface="Aptos"/>
              </a:rPr>
              <a:t>Mobile and web channels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7EE80BF-873A-4F33-993E-925C7EA16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533900"/>
            <a:ext cx="1733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5EF"/>
          </a:solidFill>
          <a:ln xmlns:a="http://schemas.openxmlformats.org/drawingml/2006/main" w="9525">
            <a:solidFill>
              <a:srgbClr val="C4A15B"/>
            </a:solidFill>
            <a:prstDash val="dash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49A59D0-64D2-4A73-87D1-880E7A1F8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657725"/>
            <a:ext cx="1504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1">
                <a:solidFill>
                  <a:srgbClr val="526071"/>
                </a:solidFill>
                <a:latin typeface="Aptos"/>
                <a:ea typeface="Aptos"/>
                <a:cs typeface="Aptos"/>
              </a:defRPr>
            </a:pPr>
            <a:r>
              <a:rPr sz="1050" b="0" i="1">
                <a:solidFill>
                  <a:srgbClr val="526071"/>
                </a:solidFill>
                <a:latin typeface="Aptos"/>
                <a:ea typeface="Aptos"/>
                <a:cs typeface="Aptos"/>
              </a:rPr>
              <a:t>Web dashboard, WhatsApp channel and data model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3AF2AEE-5ACA-445B-867A-9072E4F45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3476625"/>
            <a:ext cx="1714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4A1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742A0E8-9418-4A6E-A3E9-28B876D80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866900"/>
            <a:ext cx="20764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0015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3D681AB-2D89-47BE-B1C2-71A00DDC2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028825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1DDA4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F1DDA4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A42F220-89C5-4C6E-8128-306B6F857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000250"/>
            <a:ext cx="1447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Implementation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720BC8B-E863-4284-9A07-03562A567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647950"/>
            <a:ext cx="2076450" cy="2609850"/>
          </a:xfrm>
          <a:prstGeom xmlns:a="http://schemas.openxmlformats.org/drawingml/2006/main" prst="roundRect">
            <a:avLst>
              <a:gd name="adj" fmla="val 3670"/>
            </a:avLst>
          </a:prstGeom>
          <a:solidFill xmlns:a="http://schemas.openxmlformats.org/drawingml/2006/main">
            <a:srgbClr val="F8F5EF"/>
          </a:solidFill>
          <a:ln xmlns:a="http://schemas.openxmlformats.org/drawingml/2006/main" w="11430">
            <a:solidFill>
              <a:srgbClr val="D9C791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E58C637-D7AD-4B48-A480-21662D4F1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81940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0152D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00152D"/>
                </a:solidFill>
                <a:latin typeface="Aptos"/>
                <a:ea typeface="Aptos"/>
                <a:cs typeface="Aptos"/>
              </a:rPr>
              <a:t>Program rollout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7943377-1EFC-4FEB-9772-B4AE41C11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21945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00152D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00152D"/>
                </a:solidFill>
                <a:latin typeface="Aptos"/>
                <a:ea typeface="Aptos"/>
                <a:cs typeface="Aptos"/>
              </a:rPr>
              <a:t>Project management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58B308A-313C-4E00-9810-1EB7BF074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61950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00152D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00152D"/>
                </a:solidFill>
                <a:latin typeface="Aptos"/>
                <a:ea typeface="Aptos"/>
                <a:cs typeface="Aptos"/>
              </a:rPr>
              <a:t>Training and coordination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54458CE-5534-446A-BD0F-DB3E620DA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533900"/>
            <a:ext cx="1733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5EF"/>
          </a:solidFill>
          <a:ln xmlns:a="http://schemas.openxmlformats.org/drawingml/2006/main" w="9525">
            <a:solidFill>
              <a:srgbClr val="C4A15B"/>
            </a:solidFill>
            <a:prstDash val="dash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5613B16-B672-4390-876A-570D13047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657725"/>
            <a:ext cx="1504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1">
                <a:solidFill>
                  <a:srgbClr val="526071"/>
                </a:solidFill>
                <a:latin typeface="Aptos"/>
                <a:ea typeface="Aptos"/>
                <a:cs typeface="Aptos"/>
              </a:defRPr>
            </a:pPr>
            <a:r>
              <a:rPr sz="1050" b="0" i="1">
                <a:solidFill>
                  <a:srgbClr val="526071"/>
                </a:solidFill>
                <a:latin typeface="Aptos"/>
                <a:ea typeface="Aptos"/>
                <a:cs typeface="Aptos"/>
              </a:rPr>
              <a:t>Pilot rollout and operating rhythm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67C9DD9-70DE-4224-B674-350490202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3476625"/>
            <a:ext cx="1714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4A1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2A1C3D2-C89D-4C95-A70F-EEEDACF72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866900"/>
            <a:ext cx="20764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0015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3B75F87-12BE-4ECA-87AA-A36597A8D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028825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1DDA4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F1DDA4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6A6AA93-EC88-494E-82B7-D223E68CA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000250"/>
            <a:ext cx="1447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Management Feedback Loops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4CA15F3-E3E2-45BF-B7BB-A8898165A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647950"/>
            <a:ext cx="2076450" cy="2609850"/>
          </a:xfrm>
          <a:prstGeom xmlns:a="http://schemas.openxmlformats.org/drawingml/2006/main" prst="roundRect">
            <a:avLst>
              <a:gd name="adj" fmla="val 3670"/>
            </a:avLst>
          </a:prstGeom>
          <a:solidFill xmlns:a="http://schemas.openxmlformats.org/drawingml/2006/main">
            <a:srgbClr val="F8F5EF"/>
          </a:solidFill>
          <a:ln xmlns:a="http://schemas.openxmlformats.org/drawingml/2006/main" w="11430">
            <a:solidFill>
              <a:srgbClr val="D9C791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0F8FFD7-6B19-4AAB-980B-4A56DF31E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81940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0152D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00152D"/>
                </a:solidFill>
                <a:latin typeface="Aptos"/>
                <a:ea typeface="Aptos"/>
                <a:cs typeface="Aptos"/>
              </a:rPr>
              <a:t>Performance reviews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DDAC05D-0ADA-48D8-AC5D-6455A46BD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21945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00152D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00152D"/>
                </a:solidFill>
                <a:latin typeface="Aptos"/>
                <a:ea typeface="Aptos"/>
                <a:cs typeface="Aptos"/>
              </a:rPr>
              <a:t>Course corrections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E13F6B5-E5D8-4D1D-8CC7-C473787D0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61950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00152D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00152D"/>
                </a:solidFill>
                <a:latin typeface="Aptos"/>
                <a:ea typeface="Aptos"/>
                <a:cs typeface="Aptos"/>
              </a:rPr>
              <a:t>Funding and strategy decisions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78230D8-3E30-4CF2-823C-354D77ABD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4533900"/>
            <a:ext cx="1733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5EF"/>
          </a:solidFill>
          <a:ln xmlns:a="http://schemas.openxmlformats.org/drawingml/2006/main" w="9525">
            <a:solidFill>
              <a:srgbClr val="C4A15B"/>
            </a:solidFill>
            <a:prstDash val="dash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C47DE3C-FFED-452F-8164-685E83D56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657725"/>
            <a:ext cx="1504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1">
                <a:solidFill>
                  <a:srgbClr val="526071"/>
                </a:solidFill>
                <a:latin typeface="Aptos"/>
                <a:ea typeface="Aptos"/>
                <a:cs typeface="Aptos"/>
              </a:defRPr>
            </a:pPr>
            <a:r>
              <a:rPr sz="1050" b="0" i="1">
                <a:solidFill>
                  <a:srgbClr val="526071"/>
                </a:solidFill>
                <a:latin typeface="Aptos"/>
                <a:ea typeface="Aptos"/>
                <a:cs typeface="Aptos"/>
              </a:rPr>
              <a:t>Evidence used in steering and investment decisions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B4BD88B-22CE-46BB-BDF4-378E8CEDD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0"/>
            <a:ext cx="10858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015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AEAF30A-2B85-459D-B6A1-318551F75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816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Feedback loop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70634EA-2003-4B4C-B25C-9DAEE1BF6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600700"/>
            <a:ext cx="752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D7E0EA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D7E0EA"/>
                </a:solidFill>
                <a:latin typeface="Aptos"/>
                <a:ea typeface="Aptos"/>
                <a:cs typeface="Aptos"/>
              </a:rPr>
              <a:t>Management reviews convert monitoring data into decisions on delivery, resources and strategy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77FBC48-4423-49CC-BEFA-099405CA5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619750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1">
                <a:solidFill>
                  <a:srgbClr val="F1DDA4"/>
                </a:solidFill>
                <a:latin typeface="Aptos"/>
                <a:ea typeface="Aptos"/>
                <a:cs typeface="Aptos"/>
              </a:defRPr>
            </a:pPr>
            <a:r>
              <a:rPr sz="975" b="0" i="1">
                <a:solidFill>
                  <a:srgbClr val="F1DDA4"/>
                </a:solidFill>
                <a:latin typeface="Aptos"/>
                <a:ea typeface="Aptos"/>
                <a:cs typeface="Aptos"/>
              </a:rPr>
              <a:t>returns to steps 1 and 4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52CBE80-93A6-4307-8D2F-435E9CEEF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191125"/>
            <a:ext cx="9067800" cy="238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4A15B"/>
            </a:solidFill>
            <a:prstDash val="dash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13D9D92-7A7B-412E-94FF-D23CBCEB9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51515"/>
                </a:solidFill>
                <a:latin typeface="Georgia"/>
                <a:ea typeface="Georgia"/>
                <a:cs typeface="Georgia"/>
              </a:defRPr>
            </a:pPr>
            <a:r>
              <a:rPr sz="1050" b="1" i="0">
                <a:solidFill>
                  <a:srgbClr val="151515"/>
                </a:solidFill>
                <a:latin typeface="Georgia"/>
                <a:ea typeface="Georgia"/>
                <a:cs typeface="Georgia"/>
              </a:rPr>
              <a:t>THRUSHCROSS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94215ED-E678-4D78-84E1-BB83B4818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515100"/>
            <a:ext cx="7810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525" b="0" i="1">
                <a:solidFill>
                  <a:srgbClr val="8C6B2E"/>
                </a:solidFill>
                <a:latin typeface="Georgia"/>
                <a:ea typeface="Georgia"/>
                <a:cs typeface="Georgia"/>
              </a:defRPr>
            </a:pPr>
            <a:r>
              <a:rPr sz="525" b="0" i="1">
                <a:solidFill>
                  <a:srgbClr val="8C6B2E"/>
                </a:solidFill>
                <a:latin typeface="Georgia"/>
                <a:ea typeface="Georgia"/>
                <a:cs typeface="Georgia"/>
              </a:rPr>
              <a:t>Advisory Services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7BD238A-7A4A-4C86-B0D4-45AC2F469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3627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 i="0">
                <a:solidFill>
                  <a:srgbClr val="7D8897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7D8897"/>
                </a:solidFill>
                <a:latin typeface="Aptos"/>
                <a:ea typeface="Aptos"/>
                <a:cs typeface="Aptos"/>
              </a:rPr>
              <a:t>GrainPro  |  Impact conversation  ·  4</a:t>
            </a:r>
          </a:p>
        </p:txBody>
      </p:sp>
    </p:spTree>
    <p:extLst>
      <p:ext uri="{BB962C8B-B14F-4D97-AF65-F5344CB8AC3E}">
        <p14:creationId xmlns:p14="http://schemas.microsoft.com/office/powerpoint/2010/main" val="191540966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2026-09-22T20:47:49.0690000Z</dcterms:created>
  <dcterms:modified xsi:type="dcterms:W3CDTF">2026-09-22T20:47:49.0690000Z</dcterms:modified>
</coreProperties>
</file>